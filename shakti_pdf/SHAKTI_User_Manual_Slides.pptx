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EA580C"/>
                </a:solidFill>
              </a:defRPr>
            </a:pPr>
            <a:r>
              <a:t>OFFICIAL MANUAL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Manual v1.3.1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SHAKTI Processor &amp; SoC Platform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Complete Chapter-Wise Visual Engineering Guide based on SHAKTI User Manual V1.3.1</a:t>
            </a:r>
            <a:br/>
            <a:r>
              <a:t>RISE Lab, IIT Madras • Swadeshi Microprocessor Challenge (MeitY)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383280" cy="38404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🇮🇳 Swadeshi Initiative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Indigenous open-source production-grade processors developed at IIT Madras, funded by MeitY to create sovereign silicon solutions.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94560"/>
            <a:ext cx="3383280" cy="38404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🧩 6 Processor Classes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Full RISC-V roadmap spanning from ultra-low power 32-bit microcontrollers (E-Class) to 64-bit multi-core servers (C-Class &amp; I-Class).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194560"/>
            <a:ext cx="3383280" cy="38404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⚡ Complete Ecosystem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Full ecosystem: Bluespec SystemVerilog (BSV) RTL, Vivado bitstreams, Board Support Packages (BSP), FreeRTOS, and OpenOCD GDB debugging.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CHAPTER 1.1 • PROCESSOR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6-7 (Sec 1.1.1)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E-Class: Embedded &amp; IoT Microcontroller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Positioned against ARM Cortex-M series for low-power compute, automotive sensors, and smart 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MICROARCHITECTURE SPECIFICATIONS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Architecture: 32-bit RISC-V In-Order pipeline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Pipeline Depth: 3-Stage (Fetch → Decode/Execute → Writeback)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Operating Frequency: &lt; 200 MHz on ASIC silicon; 50 MHz on Artix-7 FPGA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ISA Support: RV32IMAC (Base Integer, Mul/Div, Atomic, Compressed)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Privilege Modes: Machine (M) mode and optional User (U) mode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Physical Protection: PMP (Physical Memory Protection) enabled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Target Workloads: Motor control, IoT sensor nodes, smart cards, 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3-STAGE IN-ORDER PIPELINE FLOW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📌 Stage 1: Instruction Fetch (IF)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Program counter generation, Instruction cache lookup or BRAM memory access, 16-bit compressed instruction decompressor.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📌 Stage 2: Decode &amp; Execute (ID / EX)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Instruction decoding, Register file operand read, Integer ALU arithmetic/logic, Branch resolution, Multi-cycle pipelined multiplier/divider.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📌 Stage 3: Memory &amp; Writeback (MEM / WB)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Data cache / peripheral MMIO read/write access, Register file commit, CSR updates, Exception &amp; Interrupt handling.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9333EA"/>
                </a:solidFill>
              </a:defRPr>
            </a:pPr>
            <a:r>
              <a:t>CHAPTER 1.1 • PROCESSOR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6-7 (Sec 1.1.2)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C-Class: Mid-Range 64-Bit Controller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Industrial 64-bit core running up to 1 GHz, equipped with Sv39 MMU to boot full Linux distributions.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657600"/>
                <a:gridCol w="3657600"/>
              </a:tblGrid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Feature Attribute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SHAKTI E-Class (e32)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SHAKTI C-Class (c64)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Word Size (XLEN)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32-bit (RV32)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33EA"/>
                          </a:solidFill>
                        </a:defRPr>
                      </a:pPr>
                      <a:r>
                        <a:t>64-bit (RV64)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Pipeline Structure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3-Stage In-Order (Fetch, Decode/Exec, WB)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33EA"/>
                          </a:solidFill>
                        </a:defRPr>
                      </a:pPr>
                      <a:r>
                        <a:t>5-Stage In-Order (Fetch, Decode, Exec, Mem, WB)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Silicon Clock 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&lt; 200 MHz on 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33EA"/>
                          </a:solidFill>
                        </a:defRPr>
                      </a:pPr>
                      <a:r>
                        <a:t>800 MHz – 1.0 GHz on 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Memory Management (MMU)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Physical Memory Protection (PMP)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33EA"/>
                          </a:solidFill>
                        </a:defRPr>
                      </a:pPr>
                      <a:r>
                        <a:t>Sv39 MMU (Full Virtual Memory for Linux)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Target ARM Equivalent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ARM Cortex-M0+ / M4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33EA"/>
                          </a:solidFill>
                        </a:defRPr>
                      </a:pPr>
                      <a:r>
                        <a:t>ARM Cortex-A35 / Cortex-A55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Supported Operating Systems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</a:defRPr>
                      </a:pPr>
                      <a:r>
                        <a:t>Baremetal, FreeRTOS, Zephyr RTOS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33EA"/>
                          </a:solidFill>
                        </a:defRPr>
                      </a:pPr>
                      <a:r>
                        <a:t>Full Linux, FreeBSD, RTEMS, FreeRTOS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CHAPTER 2 • BOARD DETAILS &amp; SOCS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9-11 (Sec 2.1)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Development Boards &amp; 3 Reference SoC Flavors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The Swadeshi Microprocessor Challenge supports three official SoCs targeting Digilent Xilinx Artix-7 boards.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PINAKA (e32-a35)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Target: Arty A7-35T FPGA</a:t>
            </a:r>
            <a:br/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Core: E-Class 32-bit (RV32IMAC)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RAM: 128KB On-Chip BRAM (No DDR)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Peripherals: 3 UART, 2 SPI, 2 I2C, 6 PWM, 32 GPIO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Special: Xilinx ADC (XADC) hardware interface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Use Case: Low cost embedded sensors &amp; motor drives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206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PARASHU (e32-a100)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Target: Arty A7-100T FPGA</a:t>
            </a:r>
            <a:br/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Core: E-Class 32-bit (RV32IMAC)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RAM: 256MB DDR3 High-Speed External RAM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Networking: 10/100 AXI Ethernet Lite MAC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Peripherals: Full Pinaka I/O set + Ethernet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Use Case: Networked IoT gateways &amp; buffer-heavy apps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VAJRA (c64-a100)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Target: Arty A7-100T FPGA</a:t>
            </a:r>
            <a:br/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Core: C-Class 64-bit (RV64IMAC)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RAM: 128MB DDR3 High-Speed External RAM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Networking: 10/100 AXI Ethernet Lite MAC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Privilege Modes: Machine, Supervisor, User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Use Case: Capable of booting full Linux OS kernel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CHAPTER 3.1 &amp; 3.2 • BOARD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11-13 (Sec 3.1-3.2)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Hardware Connections &amp; Dual-Channel FTDI Debugger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Single Micro-USB connector (J10) supplies 5V power, JTAG hardware debugging, and UART0 serial console.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FTDI FT2232H DUAL-CHANNEL ROUTING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🔹 Channel A (MPSSE Engine): JTAG Hardware Debugging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Wired to FPGA JTAG pins (TCK, TMS, TDI, TDO). Used directly by OpenOCD to communicate with the RISC-V Debug Module over JTAG, providing hardware breakpoints and stepping without an external pod.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🔹 Channel B (Serial UART): System Console Terminal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Wired directly to the SHAKTI SoC UART0 (TX/RX) pins at 19,200 baud (8N1). Presents a standard virtual COM port (/dev/ttyUSB0 or COMx) on the host PC for console printf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SETUP PROCEDURE &amp; VERIFICATION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1. Connect J10 Port: Plug Micro-USB cable into connector J10 on the Arty-7 board and host PC.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2. Verify Power LED: Green LED LD11 turns ON, confirming 5V bus power delivery.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3. Check Linux Device Nodes:</a:t>
            </a:r>
          </a:p>
          <a:p>
            <a:pPr>
              <a:defRPr sz="950">
                <a:solidFill>
                  <a:srgbClr val="34D399"/>
                </a:solidFill>
              </a:defRPr>
            </a:pPr>
            <a:r>
              <a:t>   $ ls -l /dev/ttyUSB*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   /dev/ttyUSB0  (UART0 Console @ 19,200 baud)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   /dev/ttyUSB1  (OpenOCD JTAG MPSSE Engine)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4. Grant Serial Permissions on Host PC:</a:t>
            </a:r>
          </a:p>
          <a:p>
            <a:pPr>
              <a:defRPr sz="950">
                <a:solidFill>
                  <a:srgbClr val="34D399"/>
                </a:solidFill>
              </a:defRPr>
            </a:pPr>
            <a:r>
              <a:t>   $ sudo usermod -a -G dialout $USER</a:t>
            </a:r>
          </a:p>
          <a:p>
            <a:pPr>
              <a:defRPr sz="950">
                <a:solidFill>
                  <a:srgbClr val="34D399"/>
                </a:solidFill>
              </a:defRPr>
            </a:pPr>
            <a:r>
              <a:t>   $ sudo chmod 666 /dev/ttyUSB*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E11D48"/>
                </a:solidFill>
              </a:defRPr>
            </a:pPr>
            <a:r>
              <a:t>CHAPTER 3.3 • FPGA FLASHING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13-19 (Sec 3.3.3-3.3.6)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Programming SHAKTI onto SPI Configuration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Burn the compiled .mcs configuration file into onboard Quad-SPI Flash memory for persistent power-on boot.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11D48"/>
                </a:solidFill>
              </a:defRPr>
            </a:pPr>
            <a:r>
              <a:t>VIVADO HARDWARE MANAGER WORKFLOW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1. Open Vivado: Launch Vivado Design Suite 2018.3 or newer.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2. Open Hardware Manager: Click "Open Target" → "Auto Connect".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3. Add Configuration Memory: Right-click FPGA target (xc7a35t or xc7a100t) and select "Add Configuration Memory Device".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4. Select SPI Flash Part Parameters: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• Manufacturer: Spansion (s25fl128sxxxxxx0) or Micron (n25q128-3.3v)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• Density: 128 | Type: spi | Width: x1_x2_x4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5. Program Flash: Select downloaded pinaka.mcs file and click OK.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6. Reload FPGA: Press the board PROG button or power-cycle to boot!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COMMAND-LINE AUTOMATED BUILD &amp; FLASH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1. Clone official SP2020 repository: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git clone --recursive https://gitlab.com/shaktiproject/sp2020.git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cd sp2020/e32-a35/</a:t>
            </a:r>
          </a:p>
          <a:p>
            <a:pPr>
              <a:defRPr sz="900">
                <a:solidFill>
                  <a:srgbClr val="38BDF8"/>
                </a:solidFill>
              </a:defRPr>
            </a:pPr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2. Complete RTL synthesis &amp; bitstream build: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make generate_verilog generate_boot_files \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     ip_build arty_build generate_mcs \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     program_mcs JOBS=4</a:t>
            </a:r>
          </a:p>
          <a:p>
            <a:pPr>
              <a:defRPr sz="900">
                <a:solidFill>
                  <a:srgbClr val="38BDF8"/>
                </a:solidFill>
              </a:defRPr>
            </a:pPr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3. Direct prebuilt .mcs programming without Vivado build: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Download prebuilt .mcs from: gitlab.com/shaktiproject/sp2020/-/tree/master/mcs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openocd -f ./shakti-arty.cfg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891B2"/>
                </a:solidFill>
              </a:defRPr>
            </a:pPr>
            <a:r>
              <a:t>CHAPTER 4 • SOC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20-25 (Sec 4.1)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SoC Memory Map &amp; Peripheral Addressing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Unified Memory-Mapped I/O (MMIO) address layout compliant with RISC-V Privileged Architecture v1.10.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4114800"/>
                <a:gridCol w="1645920"/>
              </a:tblGrid>
              <a:tr h="477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Peripheral Block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Base Address Range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Description &amp; Hardware Registers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Target SoCs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Boot ROM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91B2"/>
                          </a:solidFill>
                        </a:defRPr>
                      </a:pPr>
                      <a:r>
                        <a:t>0x0000_1000 - 0x0001_0FFF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First-stage bootloader, initial stack setup &amp; ASCII boot logo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All SoCs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UART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91B2"/>
                          </a:solidFill>
                        </a:defRPr>
                      </a:pPr>
                      <a:r>
                        <a:t>0x0001_1300 - 0x0001_1340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Primary serial console wired to FTDI Micro-USB (19,200 baud)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All SoCs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UART 1 &amp; UART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91B2"/>
                          </a:solidFill>
                        </a:defRPr>
                      </a:pPr>
                      <a:r>
                        <a:t>0x0001_1400 / 0x0001_1500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Auxiliary serial communication channels routed to header pins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All SoCs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SPI 0 &amp; SPI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91B2"/>
                          </a:solidFill>
                        </a:defRPr>
                      </a:pPr>
                      <a:r>
                        <a:t>0x0002_0000 / 0x0002_0100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Serial Peripheral Interface for Flash memory and external sensors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All SoCs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PWM 0 to PWM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91B2"/>
                          </a:solidFill>
                        </a:defRPr>
                      </a:pPr>
                      <a:r>
                        <a:t>0x0003_0000 - 0x0003_05FF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6 independent Pulse Width Modulation channels for motor &amp; 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All SoCs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GPIO &amp; PinMux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91B2"/>
                          </a:solidFill>
                        </a:defRPr>
                      </a:pPr>
                      <a:r>
                        <a:t>0x0004_0100 &amp; 0x0004_1500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32 General Purpose I/O pins and dynamic pin multiplexing register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All SoCs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CLINT &amp; PLIC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91B2"/>
                          </a:solidFill>
                        </a:defRPr>
                      </a:pPr>
                      <a:r>
                        <a:t>0x0200_0000 / 0x0C00_0000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Standard RISC-V timer (mtime/mtimecmp) and Platform Interrupts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All SoCs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Main Memory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891B2"/>
                          </a:solidFill>
                        </a:defRPr>
                      </a:pPr>
                      <a:r>
                        <a:t>0x8000_0000 - 0x8FFF_FFFF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Pinaka: 128KB BRAM | Parashu: 256MB DDR3 | Vajra: 128MB DDR3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Specific Target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CHAPTER 5.1 &amp; 5.2 • SOFTWARE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26-33 (Sec 5.1-5.2)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SHAKTI-SDK Architecture &amp; Toolchain 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Modular C/C++ development framework providing Board Support Packages (BSP), drivers, and toolchain setup.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LAYERED SOFTWARE ARCHITECTURE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📦 Application Layer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User C/C++ programs, sensor demos, algorithmic benchmarks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📦 OS / Middleware Layer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FreeRTOS kernel, Zephyr RTOS, Picolibc C standard library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📦 Board Support Package (BSP)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Hardware drivers (UART, I2C, SPI, PWM, GPIO, PinMux, XADC)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📦 Low-Level Architecture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Startup routines, Trap handlers, Linker scripts, RISC-V CSRs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📦 Physical Hardware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Pinaka (Artix-7 35T), Parashu (100T), Vajra (100T)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18CF8"/>
                </a:solidFill>
              </a:defRPr>
            </a:pPr>
            <a:r>
              <a:t>TOOLCHAIN SETUP COMMANDS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# 1. Install system prerequisites (Ubuntu 18.04/20.04/22.04):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sudo apt-get install autoconf automake autotools-dev curl \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     libmpc-dev libmpfr-dev libgmp-dev libusb-1.0-0-dev bc \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     gawk build-essential bison flex texinfo gperf libtool \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     patchutils zlib1g-dev libftdi1 libftdi1-2 python3-serial</a:t>
            </a:r>
          </a:p>
          <a:p>
            <a:pPr>
              <a:defRPr sz="850">
                <a:solidFill>
                  <a:srgbClr val="38BDF8"/>
                </a:solidFill>
              </a:defRPr>
            </a:pPr>
          </a:p>
          <a:p>
            <a:pPr>
              <a:defRPr sz="850">
                <a:solidFill>
                  <a:srgbClr val="94A3B8"/>
                </a:solidFill>
              </a:defRPr>
            </a:pPr>
            <a:r>
              <a:t># 2. Clone SHAKTI-SDK &amp; SHAKTI-TOOLS: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git clone https://gitlab.com/shaktiproject/software/shakti-sdk.git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git clone https://gitlab.com/shaktiproject/software/shakti-tools.git</a:t>
            </a:r>
          </a:p>
          <a:p>
            <a:pPr>
              <a:defRPr sz="850">
                <a:solidFill>
                  <a:srgbClr val="38BDF8"/>
                </a:solidFill>
              </a:defRPr>
            </a:pPr>
          </a:p>
          <a:p>
            <a:pPr>
              <a:defRPr sz="850">
                <a:solidFill>
                  <a:srgbClr val="94A3B8"/>
                </a:solidFill>
              </a:defRPr>
            </a:pPr>
            <a:r>
              <a:t># 3. Build RISC-V Cross Compiler &amp; OpenOCD: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cd shakti-tools &amp;&amp; ./setup.sh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export PATH=$PWD/bin:$PWD/openocd/bin:$PATH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CHAPTER 5.3 • APP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33-35 (Sec 5.3)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Application Development Flow: Adding &amp; Compiling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Standard process for adding a new user application, linking with BSP drivers, and generating executable 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4 STEPS TO ADD A NEW APPLICATION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📌 1. Choose Peripheral Directory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Navigate to ./software/examples/XYZ_applns (e.g. uart_applns, gpio_applns, pwm_applns).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📌 2. Create Application Folder &amp; Source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Create a subfolder (e.g. hello_uart/) and write hello_uart.c using BSP driver APIs (#include "uart.h").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📌 3. Create Local Makefile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Define application targets, source file lists, and compilation flags adhering to the SDK structure.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📌 4. Register in Master Makefile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Add hello_uart to the target list in ./software/examples/Makefile to enable top-level building.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BUILD COMMANDS &amp; ARTIFACTS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1. List all registered applications: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make list_applns</a:t>
            </a:r>
          </a:p>
          <a:p>
            <a:pPr>
              <a:defRPr sz="900">
                <a:solidFill>
                  <a:srgbClr val="38BDF8"/>
                </a:solidFill>
              </a:defRPr>
            </a:pPr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2. Build for Pinaka SoC (RV32IMAC):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make software PROGRAM=hello_uart TARGET=pinaka</a:t>
            </a:r>
          </a:p>
          <a:p>
            <a:pPr>
              <a:defRPr sz="900">
                <a:solidFill>
                  <a:srgbClr val="38BDF8"/>
                </a:solidFill>
              </a:defRPr>
            </a:pPr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3. Build for Parashu SoC (RV32IMAC + DDR):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make software PROGRAM=hello_uart TARGET=parashu</a:t>
            </a:r>
          </a:p>
          <a:p>
            <a:pPr>
              <a:defRPr sz="900">
                <a:solidFill>
                  <a:srgbClr val="38BDF8"/>
                </a:solidFill>
              </a:defRPr>
            </a:pPr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4. Build for Vajra SoC (RV64IMAC):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make software PROGRAM=hello_uart TARGET=vajra</a:t>
            </a:r>
          </a:p>
          <a:p>
            <a:pPr>
              <a:defRPr sz="900">
                <a:solidFill>
                  <a:srgbClr val="38BDF8"/>
                </a:solidFill>
              </a:defRPr>
            </a:pPr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Output Artifacts in output/ directory: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• app.elf   (Executable and Linkable Format binary)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• app.dump  (Complete RISC-V assembly disassembly)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• app.hex   (Memory initialization hex for simulation)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CHAPTER 5.4 • DEBUGGING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35-37 (Sec 5.4)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Interactive Debugging Mode: 3-Terminal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Live non-intrusive debugging using OpenOCD GDB server and RISC-V GNU Debugger over USB JTAG.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TERMINAL 1: UART CONSOLE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# Displays serial printf outputs: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sudo miniterm.py /dev/ttyUSB0 19200</a:t>
            </a:r>
          </a:p>
          <a:p>
            <a:pPr>
              <a:defRPr sz="850">
                <a:solidFill>
                  <a:srgbClr val="F1F5F9"/>
                </a:solidFill>
              </a:defRPr>
            </a:pP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Settings: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Baud Rate: 19,200 baud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Data bits: 8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Parity: None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Stop bits: 1 (8N1)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TERMINAL 2: OPENOCD SERVER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# Launch OpenOCD JTAG Server: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cd ./bsp/third_party/artix7_35t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sudo openocd -f ftdi.cfg</a:t>
            </a:r>
          </a:p>
          <a:p>
            <a:pPr>
              <a:defRPr sz="850">
                <a:solidFill>
                  <a:srgbClr val="F1F5F9"/>
                </a:solidFill>
              </a:defRPr>
            </a:pP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Status: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Initialises FT2232H MPSSE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Discovers RISC-V Tap (hart 0)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Opens GDB Server on :3333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• Opens Telnet on :4444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3832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TERMINAL 3: RISC-V GDB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# Start RISC-V GDB Client: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riscv32-unknown-elf-gdb</a:t>
            </a:r>
          </a:p>
          <a:p>
            <a:pPr>
              <a:defRPr sz="850">
                <a:solidFill>
                  <a:srgbClr val="F1F5F9"/>
                </a:solidFill>
              </a:defRPr>
            </a:pPr>
          </a:p>
          <a:p>
            <a:pPr>
              <a:defRPr sz="850">
                <a:solidFill>
                  <a:srgbClr val="F1F5F9"/>
                </a:solidFill>
              </a:defRPr>
            </a:pPr>
            <a:r>
              <a:t>(gdb) target remote localhost:3333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(gdb) file output/hello_uart.elf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(gdb) load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(gdb) b main</a:t>
            </a:r>
          </a:p>
          <a:p>
            <a:pPr>
              <a:defRPr sz="850">
                <a:solidFill>
                  <a:srgbClr val="F1F5F9"/>
                </a:solidFill>
              </a:defRPr>
            </a:pPr>
            <a:r>
              <a:t>(gdb) continue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7C3AED"/>
                </a:solidFill>
              </a:defRPr>
            </a:pPr>
            <a:r>
              <a:t>CHAPTER 5.5 • DEPLOYMENT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37-38 (Sec 5.5)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Running in Standalone Mode: Autonomous Power-On Boot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The application binary is flashed into SPI Flash memory, enabling independent execution on board power-on.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DEBUG MODE VS. STANDALONE MODE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📌 Debug Mode (Development)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Requires Host PC running OpenOCD and GDB over JTAG. Binary is temporarily loaded into volatile RAM. Once power is turned off, application is lost. Best for iterative development.</a:t>
            </a:r>
          </a:p>
          <a:p>
            <a:br/>
            <a:pPr>
              <a:defRPr sz="1050" b="1">
                <a:solidFill>
                  <a:srgbClr val="0F172A"/>
                </a:solidFill>
              </a:defRPr>
            </a:pPr>
            <a:r>
              <a:t>📌 Standalone Mode (Production)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Binary is permanently burned into non-volatile Quad-SPI Flash memory. On board reset or power-up, the hardware bootloader autonomously copies the code from Flash into RAM and executes. Best for deployed field products.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t>FLASH UPLOAD &amp; HARDWARE BOOT SEQUENCE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# One-Shot Upload Command in SHAKTI-SDK: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cd shakti-sdk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make upload PROGRAM=hello_uart TARGET=pinaka</a:t>
            </a:r>
          </a:p>
          <a:p>
            <a:pPr>
              <a:defRPr sz="900">
                <a:solidFill>
                  <a:srgbClr val="38BDF8"/>
                </a:solidFill>
              </a:defRPr>
            </a:pP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Hardware Execution Sequence on Reset: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1. Hardware Reset: CPU resets PC to BootROM address (0x0000_1000).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2. BootROM Execution: Boot code initializes memory controllers.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3. SPI Flash Read: Boot loader reads user binary from SPI Flash.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4. Copy to RAM: Payload copied into main RAM (0x8000_0000).</a:t>
            </a:r>
          </a:p>
          <a:p>
            <a:pPr>
              <a:defRPr sz="900">
                <a:solidFill>
                  <a:srgbClr val="38BDF8"/>
                </a:solidFill>
              </a:defRPr>
            </a:pPr>
            <a:r>
              <a:t>5. Jump &amp; Run: CPU jumps to RAM entry point and begins user code!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APPENDIX A &amp; B • HARDWARE INTERFACING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</a:defRPr>
            </a:pPr>
            <a:r>
              <a:t>Page 38-46 (Appendix A-B)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Arduino Pin Mapping &amp; Dynamic PinMux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Standard Arduino Uno R3 header compatibility with 2-bit dynamic hardware multiplexing registers.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PINMUX 2-BIT REGISTER LOGIC (0x0004_1500)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⚡ Bits = 00 (Default)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Configures physical pin as standard General Purpose I/O (GPIO).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⚡ Bits = 01 (Serial / SPI)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Routes pin to serial peripherals: UART1, UART2, or SPI1 (TX/RX/MOSI/MISO).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⚡ Bits = 10 (PWM Mode)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Routes pin to Pulse Width Modulation output (PWM0 to PWM5).</a:t>
            </a:r>
          </a:p>
          <a:p>
            <a:br/>
            <a:pPr>
              <a:defRPr sz="1000" b="1">
                <a:solidFill>
                  <a:srgbClr val="0F172A"/>
                </a:solidFill>
              </a:defRPr>
            </a:pPr>
            <a:r>
              <a:t>⚡ Bits = 11 (Reserved)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Undefined hardware behavior; reserved for future expansions.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DD4BF"/>
                </a:solidFill>
              </a:defRPr>
            </a:pPr>
            <a:r>
              <a:t>DYNAMIC PINMUX PROGRAMMING IN C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#include &lt;stdint.h&gt;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#define PINMUX_REG (*(volatile uint32_t *)0x00041500)</a:t>
            </a:r>
          </a:p>
          <a:p>
            <a:pPr>
              <a:defRPr sz="850">
                <a:solidFill>
                  <a:srgbClr val="38BDF8"/>
                </a:solidFill>
              </a:defRPr>
            </a:pPr>
          </a:p>
          <a:p>
            <a:pPr>
              <a:defRPr sz="850">
                <a:solidFill>
                  <a:srgbClr val="94A3B8"/>
                </a:solidFill>
              </a:defRPr>
            </a:pPr>
            <a:r>
              <a:t>// Example: Configure Arduino Pin IO3 (CK_IO[3]):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// Bits [7:6] control CK_IO[3] routing:</a:t>
            </a:r>
          </a:p>
          <a:p>
            <a:pPr>
              <a:defRPr sz="850">
                <a:solidFill>
                  <a:srgbClr val="38BDF8"/>
                </a:solidFill>
              </a:defRPr>
            </a:pPr>
          </a:p>
          <a:p>
            <a:pPr>
              <a:defRPr sz="850">
                <a:solidFill>
                  <a:srgbClr val="94A3B8"/>
                </a:solidFill>
              </a:defRPr>
            </a:pPr>
            <a:r>
              <a:t>// 1. Enable PWM0 output on Pin IO3: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PINMUX_REG &amp;= ~(0b11 &lt;&lt; 6);  // Clear bits 7:6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PINMUX_REG |=  (0b10 &lt;&lt; 6);  // Set bits 7:6 to 10 (PWM0)</a:t>
            </a:r>
          </a:p>
          <a:p>
            <a:pPr>
              <a:defRPr sz="850">
                <a:solidFill>
                  <a:srgbClr val="38BDF8"/>
                </a:solidFill>
              </a:defRPr>
            </a:pPr>
          </a:p>
          <a:p>
            <a:pPr>
              <a:defRPr sz="850">
                <a:solidFill>
                  <a:srgbClr val="94A3B8"/>
                </a:solidFill>
              </a:defRPr>
            </a:pPr>
            <a:r>
              <a:t>// 2. Switch Pin IO3 to UART2 TX dynamically: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PINMUX_REG &amp;= ~(0b11 &lt;&lt; 6);  // Clear bits 7:6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PINMUX_REG |=  (0b01 &lt;&lt; 6);  // Set bits 7:6 to 01 (UART2 TX)</a:t>
            </a:r>
          </a:p>
          <a:p>
            <a:pPr>
              <a:defRPr sz="850">
                <a:solidFill>
                  <a:srgbClr val="38BDF8"/>
                </a:solidFill>
              </a:defRPr>
            </a:pPr>
          </a:p>
          <a:p>
            <a:pPr>
              <a:defRPr sz="850">
                <a:solidFill>
                  <a:srgbClr val="94A3B8"/>
                </a:solidFill>
              </a:defRPr>
            </a:pPr>
            <a:r>
              <a:t>// 3. Revert Pin IO3 back to standard GPIO: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PINMUX_REG &amp;= ~(0b11 &lt;&lt; 6);  // Set bits 7:6 to 00 (GPIO)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SHAKTI User Manual v1.3.1 (RISE Lab, IIT Madras)  •  Module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